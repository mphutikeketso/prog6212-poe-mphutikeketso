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442F5-7F17-4424-9AD9-C31DCB706975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22DF9-22A0-44FD-9A9D-07237C20903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51140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9184DA70-C731-4C70-880D-CCD4705E623C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822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57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7669AF7-7BEB-44E4-9852-375E34362B5B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45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398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543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106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221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951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802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03112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2D6E202-B606-4609-B914-27C9371A1F6D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66820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2D6E202-B606-4609-B914-27C9371A1F6D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50619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2D6E202-B606-4609-B914-27C9371A1F6D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69797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95449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8093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2247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587DA83-5663-4C9C-B9AA-0B40A3DAFF81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735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5481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77D6507-8E8D-40E1-A7B9-63012EF94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bstract design of flower petals in pastel">
            <a:extLst>
              <a:ext uri="{FF2B5EF4-FFF2-40B4-BE49-F238E27FC236}">
                <a16:creationId xmlns:a16="http://schemas.microsoft.com/office/drawing/2014/main" id="{61977DAB-ED0E-68F5-47BC-AF800A3C42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135" t="21929" r="695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FF3D86-2916-4F9F-9752-304810CF5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048875-14D1-4CC7-8AC3-7ABC73AAA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CDF4FD-5B9B-27AA-12F9-341EE8B027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3014139"/>
            <a:ext cx="9448800" cy="1825096"/>
          </a:xfrm>
        </p:spPr>
        <p:txBody>
          <a:bodyPr>
            <a:normAutofit/>
          </a:bodyPr>
          <a:lstStyle/>
          <a:p>
            <a:r>
              <a:rPr lang="en-GB"/>
              <a:t>Contract Monthly Claim System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E257BA-8316-DCFF-7A63-40BE8672E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842935"/>
            <a:ext cx="9448800" cy="685800"/>
          </a:xfrm>
        </p:spPr>
        <p:txBody>
          <a:bodyPr>
            <a:normAutofit/>
          </a:bodyPr>
          <a:lstStyle/>
          <a:p>
            <a:r>
              <a:rPr lang="en-GB" sz="800"/>
              <a:t>Student number: ST10445280</a:t>
            </a:r>
          </a:p>
          <a:p>
            <a:r>
              <a:rPr lang="en-GB" sz="800"/>
              <a:t>PROG6212</a:t>
            </a:r>
          </a:p>
          <a:p>
            <a:r>
              <a:rPr lang="en-GB" sz="800"/>
              <a:t>Keketso Mphuti</a:t>
            </a:r>
            <a:endParaRPr lang="en-ZA" sz="800"/>
          </a:p>
        </p:txBody>
      </p:sp>
    </p:spTree>
    <p:extLst>
      <p:ext uri="{BB962C8B-B14F-4D97-AF65-F5344CB8AC3E}">
        <p14:creationId xmlns:p14="http://schemas.microsoft.com/office/powerpoint/2010/main" val="220451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ounded Rectangle 14">
            <a:extLst>
              <a:ext uri="{FF2B5EF4-FFF2-40B4-BE49-F238E27FC236}">
                <a16:creationId xmlns:a16="http://schemas.microsoft.com/office/drawing/2014/main" id="{934B872D-6FE9-472A-9E92-342E41DA7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8DEBA6-2ED2-4FED-8AAB-2F855348D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162F0F-A9B7-409A-AD12-ADD441861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7" r="55278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63C561-5B75-5E5F-FCF2-1E9D8FE0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804334"/>
            <a:ext cx="3471333" cy="524933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What is a cmcs?</a:t>
            </a:r>
            <a:endParaRPr lang="en-ZA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F4DA7-B98B-1D1D-1D8A-0F6C6E607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722" y="804334"/>
            <a:ext cx="6271477" cy="5249333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chemeClr val="tx2"/>
                </a:solidFill>
              </a:rPr>
              <a:t>A Contract Monthly Claim System is a web application that manages the monthly claims of an organization. It works through a system to claim and approve different submissions depending on what the organization requests.</a:t>
            </a:r>
          </a:p>
          <a:p>
            <a:r>
              <a:rPr lang="en-GB">
                <a:solidFill>
                  <a:schemeClr val="tx2"/>
                </a:solidFill>
              </a:rPr>
              <a:t>In this case it is for Lecturers and Co-Ordinators to submit there working hours and hourly rates as well as for Human resources to overview and approve submissions.</a:t>
            </a:r>
            <a:endParaRPr lang="en-ZA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680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ounded Rectangle 14">
            <a:extLst>
              <a:ext uri="{FF2B5EF4-FFF2-40B4-BE49-F238E27FC236}">
                <a16:creationId xmlns:a16="http://schemas.microsoft.com/office/drawing/2014/main" id="{934B872D-6FE9-472A-9E92-342E41DA7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8DEBA6-2ED2-4FED-8AAB-2F855348D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162F0F-A9B7-409A-AD12-ADD441861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7" r="55278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26DB0-4243-CA90-41C8-A7D8F15C4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804334"/>
            <a:ext cx="3471333" cy="524933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The core features of this CMCS:</a:t>
            </a:r>
            <a:endParaRPr lang="en-ZA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4D286-DBE6-A8E5-A0AC-F4EDC29AE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722" y="804334"/>
            <a:ext cx="6271477" cy="5249333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chemeClr val="tx2"/>
                </a:solidFill>
              </a:rPr>
              <a:t>There is an automated claim submission that calculates aspects such as the hourly rates.</a:t>
            </a:r>
          </a:p>
          <a:p>
            <a:r>
              <a:rPr lang="en-GB">
                <a:solidFill>
                  <a:schemeClr val="tx2"/>
                </a:solidFill>
              </a:rPr>
              <a:t>There are different roles and levels of access such a lecturers, coordinators and managers. Each role has different levels of access in terms of submission, approval, viewing, etc.</a:t>
            </a:r>
          </a:p>
          <a:p>
            <a:r>
              <a:rPr lang="en-GB">
                <a:solidFill>
                  <a:schemeClr val="tx2"/>
                </a:solidFill>
              </a:rPr>
              <a:t>The users will be able to upload relevant documents.</a:t>
            </a:r>
          </a:p>
          <a:p>
            <a:r>
              <a:rPr lang="en-GB">
                <a:solidFill>
                  <a:schemeClr val="tx2"/>
                </a:solidFill>
              </a:rPr>
              <a:t>There is an automated generation for invoices.</a:t>
            </a:r>
          </a:p>
          <a:p>
            <a:pPr marL="0" indent="0">
              <a:buNone/>
            </a:pPr>
            <a:endParaRPr lang="en-ZA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132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ounded Rectangle 14">
            <a:extLst>
              <a:ext uri="{FF2B5EF4-FFF2-40B4-BE49-F238E27FC236}">
                <a16:creationId xmlns:a16="http://schemas.microsoft.com/office/drawing/2014/main" id="{934B872D-6FE9-472A-9E92-342E41DA7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8DEBA6-2ED2-4FED-8AAB-2F855348D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162F0F-A9B7-409A-AD12-ADD441861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7" r="55278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F7C698-F77D-82AD-7153-4C511365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804334"/>
            <a:ext cx="3471333" cy="524933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Roles and access levels:</a:t>
            </a:r>
            <a:endParaRPr lang="en-ZA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4BEA2-A0C3-419D-29C6-B07B2BC80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722" y="804334"/>
            <a:ext cx="6271477" cy="5249333"/>
          </a:xfrm>
        </p:spPr>
        <p:txBody>
          <a:bodyPr anchor="ctr">
            <a:normAutofit/>
          </a:bodyPr>
          <a:lstStyle/>
          <a:p>
            <a:r>
              <a:rPr lang="en-GB" sz="2000">
                <a:solidFill>
                  <a:schemeClr val="tx2"/>
                </a:solidFill>
              </a:rPr>
              <a:t>Each role has its own dashboard that controls the different access levels.</a:t>
            </a:r>
          </a:p>
          <a:p>
            <a:r>
              <a:rPr lang="en-GB" sz="2000">
                <a:solidFill>
                  <a:schemeClr val="tx2"/>
                </a:solidFill>
              </a:rPr>
              <a:t>Lecturers can submit claims and view their own claim history. They can upload documents and track their status claims (Approved/Rejected/Pending)</a:t>
            </a:r>
          </a:p>
          <a:p>
            <a:r>
              <a:rPr lang="en-GB" sz="2000">
                <a:solidFill>
                  <a:schemeClr val="tx2"/>
                </a:solidFill>
              </a:rPr>
              <a:t>Programme coordinators can view any claims that are still pending that approve or reject them. </a:t>
            </a:r>
          </a:p>
          <a:p>
            <a:r>
              <a:rPr lang="en-GB" sz="2000">
                <a:solidFill>
                  <a:schemeClr val="tx2"/>
                </a:solidFill>
              </a:rPr>
              <a:t>Academic Managers can make final approvals over the coordinator approvals. They can also look over claims that have already been approved or rejected.</a:t>
            </a:r>
          </a:p>
          <a:p>
            <a:r>
              <a:rPr lang="en-GB" sz="2000">
                <a:solidFill>
                  <a:schemeClr val="tx2"/>
                </a:solidFill>
              </a:rPr>
              <a:t>Human Resources can process payments for any of the approved claims and have those invoices automatically generated.</a:t>
            </a:r>
            <a:endParaRPr lang="en-ZA" sz="2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459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ounded Rectangle 14">
            <a:extLst>
              <a:ext uri="{FF2B5EF4-FFF2-40B4-BE49-F238E27FC236}">
                <a16:creationId xmlns:a16="http://schemas.microsoft.com/office/drawing/2014/main" id="{934B872D-6FE9-472A-9E92-342E41DA7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8DEBA6-2ED2-4FED-8AAB-2F855348D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162F0F-A9B7-409A-AD12-ADD441861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7" r="55278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25AA1F-3A28-D6FE-12A7-D371A8D0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804334"/>
            <a:ext cx="3471333" cy="524933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Lecturer dashboard</a:t>
            </a:r>
            <a:endParaRPr lang="en-ZA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84382-C809-3B6B-0BD4-B9790F479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722" y="804334"/>
            <a:ext cx="6271477" cy="5249333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chemeClr val="tx2"/>
                </a:solidFill>
              </a:rPr>
              <a:t>The following screenshots present the function of the Lecturer’s dashboard. It includes actions to: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>
                <a:solidFill>
                  <a:schemeClr val="tx2"/>
                </a:solidFill>
              </a:rPr>
              <a:t>Submit Claims.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ZA">
                <a:solidFill>
                  <a:schemeClr val="tx2"/>
                </a:solidFill>
              </a:rPr>
              <a:t>The Lecturers history of claims.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ZA">
                <a:solidFill>
                  <a:schemeClr val="tx2"/>
                </a:solidFill>
              </a:rPr>
              <a:t>A tab to upload any relevant documents.</a:t>
            </a:r>
          </a:p>
          <a:p>
            <a:pPr marL="0" indent="0">
              <a:buNone/>
            </a:pPr>
            <a:endParaRPr lang="en-ZA">
              <a:solidFill>
                <a:schemeClr val="tx2"/>
              </a:solidFill>
            </a:endParaRPr>
          </a:p>
          <a:p>
            <a:r>
              <a:rPr lang="en-ZA">
                <a:solidFill>
                  <a:schemeClr val="tx2"/>
                </a:solidFill>
              </a:rPr>
              <a:t>At the bottom of the dashboard is shows the current submitted claims and states their status (Pending/Approved/Rejected)</a:t>
            </a:r>
          </a:p>
        </p:txBody>
      </p:sp>
    </p:spTree>
    <p:extLst>
      <p:ext uri="{BB962C8B-B14F-4D97-AF65-F5344CB8AC3E}">
        <p14:creationId xmlns:p14="http://schemas.microsoft.com/office/powerpoint/2010/main" val="2584132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B912AE0-CAD9-4F8F-A2A2-BDF07D4ED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6D2193-A3D2-25C4-B76F-F99674AE8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6808" y="673240"/>
            <a:ext cx="4510994" cy="3446373"/>
          </a:xfr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Lecturer dashboard</a:t>
            </a:r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A6621E27-B4D3-4EEA-8F4D-BB759FD24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5641" y="-1"/>
            <a:ext cx="5706359" cy="6434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DCD9119-A5D2-4D09-BCB2-70ABD368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74623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DAE08D-1E33-F80A-FECC-FF42F56DE0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72" y="1266825"/>
            <a:ext cx="6476578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800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CAF0F5-0946-81E6-DAE9-AB68128AF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C3BBC63-DC19-41B8-AB81-E30CC21AE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87CAEF2-F22C-4F37-B4E4-C70558C0B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D825F7A-CF63-4DBE-A675-53AFFCEBC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1999" cy="45437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DF1774-FEE0-90D4-F86F-E68AC8083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5888" y="673240"/>
            <a:ext cx="5951914" cy="3446373"/>
          </a:xfr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/>
              <a:t>Lecturer dashboard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FA21F32-6E0D-A2E4-341F-CFA95A74A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2265" y="4119613"/>
            <a:ext cx="5935535" cy="2058765"/>
          </a:xfrm>
          <a:noFill/>
          <a:ln w="19050">
            <a:noFill/>
            <a:prstDash val="dash"/>
          </a:ln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/>
              <a:t>This is the submission form to submit a claim.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F7FAA-8D7B-48B1-BAE6-C92A114DB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1454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98F730-4F50-4FE8-B07E-BC69AAF76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46782" y="-1"/>
            <a:ext cx="4245218" cy="536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51A7F9-C4D3-A97A-6A53-938E1945D1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2" r="3" b="3"/>
          <a:stretch>
            <a:fillRect/>
          </a:stretch>
        </p:blipFill>
        <p:spPr>
          <a:xfrm>
            <a:off x="94571" y="942975"/>
            <a:ext cx="5537694" cy="427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737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7A88A8-99D6-EC53-A56E-CAE5CD78A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912AE0-CAD9-4F8F-A2A2-BDF07D4ED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753802-63C6-D875-2D71-E31C0FF2D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6808" y="673240"/>
            <a:ext cx="4510994" cy="3446373"/>
          </a:xfr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Lecturer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1A6409-8D17-29B4-2B08-CC79EAB232DD}"/>
              </a:ext>
            </a:extLst>
          </p:cNvPr>
          <p:cNvSpPr txBox="1"/>
          <p:nvPr/>
        </p:nvSpPr>
        <p:spPr>
          <a:xfrm>
            <a:off x="7056807" y="4119613"/>
            <a:ext cx="4510993" cy="2058765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vert="horz" lIns="91440" tIns="45720" rIns="91440" bIns="45720" rtlCol="0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</a:pPr>
            <a:r>
              <a:rPr lang="en-US" sz="2000"/>
              <a:t>This is the history and status of claims that have been submitted</a:t>
            </a: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6621E27-B4D3-4EEA-8F4D-BB759FD24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5641" y="-1"/>
            <a:ext cx="5706359" cy="6434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DCD9119-A5D2-4D09-BCB2-70ABD368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74623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2B9D9D-2F1E-1211-C078-014E3C58DC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03" y="1441450"/>
            <a:ext cx="6365238" cy="432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443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C01F48-DAD9-3A2F-9950-B42B768D6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ounded Rectangle 14">
            <a:extLst>
              <a:ext uri="{FF2B5EF4-FFF2-40B4-BE49-F238E27FC236}">
                <a16:creationId xmlns:a16="http://schemas.microsoft.com/office/drawing/2014/main" id="{934B872D-6FE9-472A-9E92-342E41DA7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8DEBA6-2ED2-4FED-8AAB-2F855348D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162F0F-A9B7-409A-AD12-ADD441861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7" r="55278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15E2F9-ED7D-C5A2-4EF9-DFF3DF249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804334"/>
            <a:ext cx="3471333" cy="5249333"/>
          </a:xfrm>
        </p:spPr>
        <p:txBody>
          <a:bodyPr>
            <a:normAutofit/>
          </a:bodyPr>
          <a:lstStyle/>
          <a:p>
            <a:r>
              <a:rPr lang="en-GB" sz="3400">
                <a:solidFill>
                  <a:srgbClr val="FFFFFF"/>
                </a:solidFill>
              </a:rPr>
              <a:t>Programme coordinator dashboard</a:t>
            </a:r>
            <a:endParaRPr lang="en-ZA" sz="3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E7E24-20FE-BA65-E4BA-E90316AA9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722" y="804334"/>
            <a:ext cx="6271477" cy="5249333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chemeClr val="tx2"/>
                </a:solidFill>
              </a:rPr>
              <a:t>The following screenshots present the function of the Coordinator’s dashboard. It includes actions to: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>
                <a:solidFill>
                  <a:schemeClr val="tx2"/>
                </a:solidFill>
              </a:rPr>
              <a:t>View claims that need to be approved or rejected.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ZA">
                <a:solidFill>
                  <a:schemeClr val="tx2"/>
                </a:solidFill>
              </a:rPr>
              <a:t>The history of that Programme Coordinator’s claims that they have processed.</a:t>
            </a:r>
          </a:p>
        </p:txBody>
      </p:sp>
    </p:spTree>
    <p:extLst>
      <p:ext uri="{BB962C8B-B14F-4D97-AF65-F5344CB8AC3E}">
        <p14:creationId xmlns:p14="http://schemas.microsoft.com/office/powerpoint/2010/main" val="2348285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B912AE0-CAD9-4F8F-A2A2-BDF07D4ED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3AC3A8-173A-C2F3-D48E-71EE483D1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6808" y="673240"/>
            <a:ext cx="4510994" cy="3446373"/>
          </a:xfr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Programme coordinator dashboard</a:t>
            </a: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6621E27-B4D3-4EEA-8F4D-BB759FD24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5641" y="-1"/>
            <a:ext cx="5706359" cy="6434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DCD9119-A5D2-4D09-BCB2-70ABD368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74623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4EEB93-DFF8-0970-2BA5-D874EE844F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8" y="1886904"/>
            <a:ext cx="5475672" cy="308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043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B36E4-7B21-C895-4DBD-23EB58634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3FFF8D3-2EF3-4286-935A-D01BE3C85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D8CCB43-545E-4064-8BB8-5C492D0F5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AE1B87-C4FB-73E4-5523-AD6328498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3306744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7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Programme coordinator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3B6DF1-757A-B020-B368-7BD821612507}"/>
              </a:ext>
            </a:extLst>
          </p:cNvPr>
          <p:cNvSpPr txBox="1"/>
          <p:nvPr/>
        </p:nvSpPr>
        <p:spPr>
          <a:xfrm>
            <a:off x="685801" y="2194560"/>
            <a:ext cx="3306742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This is the page where the coordinator can review, approve or reject claims submitted by different lecturers.</a:t>
            </a:r>
          </a:p>
        </p:txBody>
      </p:sp>
      <p:sp useBgFill="1">
        <p:nvSpPr>
          <p:cNvPr id="17" name="Rounded Rectangle 14">
            <a:extLst>
              <a:ext uri="{FF2B5EF4-FFF2-40B4-BE49-F238E27FC236}">
                <a16:creationId xmlns:a16="http://schemas.microsoft.com/office/drawing/2014/main" id="{E6C57836-126B-4938-8C7A-3C3BCB59D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1066164"/>
            <a:ext cx="6765949" cy="5148371"/>
          </a:xfrm>
          <a:prstGeom prst="roundRect">
            <a:avLst>
              <a:gd name="adj" fmla="val 2403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D9618C-E9A6-F2F4-F060-285DA391C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389" y="1266825"/>
            <a:ext cx="6640650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62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AA64A-7C35-B959-3E91-C20343F25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912AE0-CAD9-4F8F-A2A2-BDF07D4ED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32D8C4-8D7E-A81C-7154-0FE754696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6808" y="673240"/>
            <a:ext cx="4510994" cy="3446373"/>
          </a:xfr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Programme coordinator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C1B383-A054-7B67-C0B0-13113E1B5BC6}"/>
              </a:ext>
            </a:extLst>
          </p:cNvPr>
          <p:cNvSpPr txBox="1"/>
          <p:nvPr/>
        </p:nvSpPr>
        <p:spPr>
          <a:xfrm>
            <a:off x="7056807" y="4119613"/>
            <a:ext cx="4510993" cy="2058765"/>
          </a:xfrm>
          <a:prstGeom prst="rect">
            <a:avLst/>
          </a:prstGeom>
          <a:noFill/>
          <a:ln w="19050">
            <a:noFill/>
            <a:prstDash val="dash"/>
          </a:ln>
        </p:spPr>
        <p:txBody>
          <a:bodyPr vert="horz" lIns="91440" tIns="45720" rIns="91440" bIns="45720" rtlCol="0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</a:pPr>
            <a:r>
              <a:rPr lang="en-US" sz="2000"/>
              <a:t>This is the page where the coordinator can go over claims they have processed.</a:t>
            </a: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6621E27-B4D3-4EEA-8F4D-BB759FD24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5641" y="-1"/>
            <a:ext cx="5706359" cy="6434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DCD9119-A5D2-4D09-BCB2-70ABD368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74623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1D3D6B-A058-5FEF-F1DC-EDF752927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92" y="1266825"/>
            <a:ext cx="6283349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601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BF8D51-9F43-1AFF-8E61-46B06B485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ounded Rectangle 14">
            <a:extLst>
              <a:ext uri="{FF2B5EF4-FFF2-40B4-BE49-F238E27FC236}">
                <a16:creationId xmlns:a16="http://schemas.microsoft.com/office/drawing/2014/main" id="{934B872D-6FE9-472A-9E92-342E41DA7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8DEBA6-2ED2-4FED-8AAB-2F855348D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162F0F-A9B7-409A-AD12-ADD441861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7" r="55278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6B91FA-E4F3-B817-E30F-B1BC831D1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804334"/>
            <a:ext cx="3471333" cy="524933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Academic Manager dashboard</a:t>
            </a:r>
            <a:endParaRPr lang="en-ZA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A5120-2968-6F9D-F486-1BCA710AF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722" y="804334"/>
            <a:ext cx="6271477" cy="5249333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chemeClr val="tx2"/>
                </a:solidFill>
              </a:rPr>
              <a:t>The following screenshots present the function of the Academic Manager’s dashboard. </a:t>
            </a:r>
          </a:p>
          <a:p>
            <a:r>
              <a:rPr lang="en-GB">
                <a:solidFill>
                  <a:schemeClr val="tx2"/>
                </a:solidFill>
              </a:rPr>
              <a:t>It shows the total claims submitted by lecturers as well all the claims that are approved, rejected or are still waiting to be processed.</a:t>
            </a:r>
          </a:p>
          <a:p>
            <a:r>
              <a:rPr lang="en-GB">
                <a:solidFill>
                  <a:schemeClr val="tx2"/>
                </a:solidFill>
              </a:rPr>
              <a:t>The bottom shows claims that need the manager’s final approval for specific claims.</a:t>
            </a:r>
            <a:endParaRPr lang="en-ZA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24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6E532-1D59-E7D4-EB27-46BA8774F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B912AE0-CAD9-4F8F-A2A2-BDF07D4ED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DB8CDC-AF41-F4B5-8C19-87A51252C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6808" y="673240"/>
            <a:ext cx="4510994" cy="3446373"/>
          </a:xfr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Academic Manager dashboard</a:t>
            </a: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6621E27-B4D3-4EEA-8F4D-BB759FD24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5641" y="-1"/>
            <a:ext cx="5706359" cy="6434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DCD9119-A5D2-4D09-BCB2-70ABD368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74623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2688AB-6B97-058F-5F69-FFDE5D49C0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40" y="1543050"/>
            <a:ext cx="6398560" cy="359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359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70C1DC-6D4C-BD9E-8004-5151AF8B7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ounded Rectangle 14">
            <a:extLst>
              <a:ext uri="{FF2B5EF4-FFF2-40B4-BE49-F238E27FC236}">
                <a16:creationId xmlns:a16="http://schemas.microsoft.com/office/drawing/2014/main" id="{934B872D-6FE9-472A-9E92-342E41DA7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8DEBA6-2ED2-4FED-8AAB-2F855348D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162F0F-A9B7-409A-AD12-ADD441861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7" r="55278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9D5317-62C5-5C50-27F0-E841CAFA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804334"/>
            <a:ext cx="3471333" cy="524933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Human resources dashboard</a:t>
            </a:r>
            <a:endParaRPr lang="en-ZA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68208-BF84-64A3-E44E-A9C9B7378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722" y="804334"/>
            <a:ext cx="6271477" cy="5249333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chemeClr val="tx2"/>
                </a:solidFill>
              </a:rPr>
              <a:t>The following screenshots present the function of the Human Resources’ dashboard. </a:t>
            </a:r>
          </a:p>
          <a:p>
            <a:r>
              <a:rPr lang="en-GB">
                <a:solidFill>
                  <a:schemeClr val="tx2"/>
                </a:solidFill>
              </a:rPr>
              <a:t>It shows the claims that have been approved by HR.</a:t>
            </a:r>
          </a:p>
          <a:p>
            <a:r>
              <a:rPr lang="en-GB">
                <a:solidFill>
                  <a:schemeClr val="tx2"/>
                </a:solidFill>
              </a:rPr>
              <a:t>It also shows the total amount of money that has been paid through claims as well as claims that still need to be paid.</a:t>
            </a:r>
          </a:p>
          <a:p>
            <a:r>
              <a:rPr lang="en-GB">
                <a:solidFill>
                  <a:schemeClr val="tx2"/>
                </a:solidFill>
              </a:rPr>
              <a:t>The bottom shows claims have been approved and need to be paid.</a:t>
            </a:r>
            <a:endParaRPr lang="en-ZA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628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B912AE0-CAD9-4F8F-A2A2-BDF07D4ED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A37F27-0E7D-854C-8128-133D3FB49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6808" y="673240"/>
            <a:ext cx="4510994" cy="3446373"/>
          </a:xfrm>
          <a:noFill/>
          <a:ln w="19050">
            <a:noFill/>
            <a:prstDash val="dash"/>
          </a:ln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Human resources dashboard</a:t>
            </a: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6621E27-B4D3-4EEA-8F4D-BB759FD24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5641" y="-1"/>
            <a:ext cx="5706359" cy="6434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DCD9119-A5D2-4D09-BCB2-70ABD368D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74623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155236-8D5A-C106-5FE8-5BDA04C9FF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40" y="1441450"/>
            <a:ext cx="6267592" cy="3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153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ounded Rectangle 14">
            <a:extLst>
              <a:ext uri="{FF2B5EF4-FFF2-40B4-BE49-F238E27FC236}">
                <a16:creationId xmlns:a16="http://schemas.microsoft.com/office/drawing/2014/main" id="{934B872D-6FE9-472A-9E92-342E41DA7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8DEBA6-2ED2-4FED-8AAB-2F855348D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162F0F-A9B7-409A-AD12-ADD441861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7" r="55278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43EFEF-4C05-806F-48BE-ED3E4A124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804334"/>
            <a:ext cx="3471333" cy="5249333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Resource link:</a:t>
            </a:r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440D8-3A87-A64C-C1B0-913D3117A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722" y="804334"/>
            <a:ext cx="6271477" cy="5249333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chemeClr val="tx2"/>
                </a:solidFill>
              </a:rPr>
              <a:t>To have a closer look at the project you can access the code through my GitHub repository: </a:t>
            </a:r>
          </a:p>
          <a:p>
            <a:pPr marL="0" indent="0">
              <a:buNone/>
            </a:pPr>
            <a:r>
              <a:rPr lang="en-GB" dirty="0">
                <a:solidFill>
                  <a:schemeClr val="tx2"/>
                </a:solidFill>
              </a:rPr>
              <a:t> https://github.com/MphutiKeketso/prog6212-POE-MphutiKeketso.git</a:t>
            </a:r>
            <a:endParaRPr lang="en-ZA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870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91</TotalTime>
  <Words>588</Words>
  <Application>Microsoft Office PowerPoint</Application>
  <PresentationFormat>Widescreen</PresentationFormat>
  <Paragraphs>53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Century Gothic</vt:lpstr>
      <vt:lpstr>Courier New</vt:lpstr>
      <vt:lpstr>Vapor Trail</vt:lpstr>
      <vt:lpstr>Contract Monthly Claim System</vt:lpstr>
      <vt:lpstr>What is a cmcs?</vt:lpstr>
      <vt:lpstr>The core features of this CMCS:</vt:lpstr>
      <vt:lpstr>Roles and access levels:</vt:lpstr>
      <vt:lpstr>Lecturer dashboard</vt:lpstr>
      <vt:lpstr>Lecturer dashboard</vt:lpstr>
      <vt:lpstr>Lecturer dashboard</vt:lpstr>
      <vt:lpstr>Lecturer dashboard</vt:lpstr>
      <vt:lpstr>Programme coordinator dashboard</vt:lpstr>
      <vt:lpstr>Programme coordinator dashboard</vt:lpstr>
      <vt:lpstr>Programme coordinator dashboard</vt:lpstr>
      <vt:lpstr>Programme coordinator dashboard</vt:lpstr>
      <vt:lpstr>Academic Manager dashboard</vt:lpstr>
      <vt:lpstr>Academic Manager dashboard</vt:lpstr>
      <vt:lpstr>Human resources dashboard</vt:lpstr>
      <vt:lpstr>Human resources dashboard</vt:lpstr>
      <vt:lpstr>Resource link: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Sonali Ramsumar</dc:creator>
  <cp:lastModifiedBy>Keketso Mphuti</cp:lastModifiedBy>
  <cp:revision>3</cp:revision>
  <dcterms:created xsi:type="dcterms:W3CDTF">2025-11-20T13:42:29Z</dcterms:created>
  <dcterms:modified xsi:type="dcterms:W3CDTF">2025-11-21T20:38:05Z</dcterms:modified>
</cp:coreProperties>
</file>